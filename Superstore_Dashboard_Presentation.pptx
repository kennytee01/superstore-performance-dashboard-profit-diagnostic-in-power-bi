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23F30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754880"/>
            <a:ext cx="4572000" cy="4572000"/>
          </a:xfrm>
          <a:prstGeom prst="ellipse">
            <a:avLst/>
          </a:prstGeom>
          <a:solidFill>
            <a:srgbClr val="123F3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548640" cy="5486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Superstore Performance Dashboard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 &amp; Discount Impact, 2014 to 2017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Timothy Kehinde   |   Data Analyst Intern, AnalystLab Africa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•  Sample Superstore Dataset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5F7F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581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93852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Superstore retail transactions dataset, widely used for BI portfolio projects.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5F7F5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999232"/>
            <a:ext cx="548640" cy="5486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8437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320040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 order-line records across 4 regions, 3 categories, and 17 sub-categories, spanning 2014 to 2017.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86784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5F7F5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261104"/>
            <a:ext cx="548640" cy="5486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61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41056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used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46227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Profit, Discount, Quantity, Order Date, Region, Category, Sub-Category, Segment.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248656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5F7F5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5522976"/>
            <a:ext cx="548640" cy="5486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522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5367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00200" y="5724144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or duplicates found. Clean out of the box, unlike the COVID-19 dataset built the same week.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Week 4 Capstone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business winning and losing money, and what should we do about it?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123F3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423160"/>
            <a:ext cx="594360" cy="59436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drives profit?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regions, segments, and categories actually generate profit, not just revenue.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10312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123F30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423160"/>
            <a:ext cx="594360" cy="59436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3246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growth real?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9776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business growing, and is that growth translating into profit or just top-line sales?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210312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123F30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2423160"/>
            <a:ext cx="594360" cy="59436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49640" y="3246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fix?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49640" y="39776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or sub-categories should we stop discounting, discontinue, or double down on?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Week 4 Capstone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Defined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83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$286K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metric. Leads over Sales, since profit is the real business signal.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146304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0B3D2E"/>
          </a:solidFill>
          <a:ln/>
        </p:spPr>
      </p:sp>
      <p:sp>
        <p:nvSpPr>
          <p:cNvPr id="8" name="Text 6"/>
          <p:cNvSpPr/>
          <p:nvPr/>
        </p:nvSpPr>
        <p:spPr>
          <a:xfrm>
            <a:off x="3611880" y="1783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1188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11880" y="31089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Top-line revenue across all 9,994 order lines, 2014-2017.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0B3D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783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1089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as a share of sales. Trending down year-over-year.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89720" y="146304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0B3D2E"/>
          </a:solidFill>
          <a:ln/>
        </p:spPr>
      </p:sp>
      <p:sp>
        <p:nvSpPr>
          <p:cNvPr id="16" name="Text 14"/>
          <p:cNvSpPr/>
          <p:nvPr/>
        </p:nvSpPr>
        <p:spPr>
          <a:xfrm>
            <a:off x="9372600" y="1783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37260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72600" y="31089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order count, used alongside margin to judge real growth.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892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carries a year-over-year growth pill: green for a favorable move, red for unfavorable, consistent across both dashboards built this week.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Week 4 Capstone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Performance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KPI overview, sales vs profit trend, and sub-category profitability</a:t>
            </a:r>
            <a:endParaRPr lang="en-US" sz="1300" dirty="0"/>
          </a:p>
        </p:txBody>
      </p:sp>
      <p:pic>
        <p:nvPicPr>
          <p:cNvPr id="4" name="Image 0" descr="page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64240" cy="28283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Week 4 Capstone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Regional &amp; Category Deep Dive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Discount vs profit, regional performance, and recommendations</a:t>
            </a:r>
            <a:endParaRPr lang="en-US" sz="1300" dirty="0"/>
          </a:p>
        </p:txBody>
      </p:sp>
      <p:pic>
        <p:nvPicPr>
          <p:cNvPr id="4" name="Image 0" descr="page2_deepd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64240" cy="28462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Week 4 Capstone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3152" cy="105156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99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6367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is the clearest problem area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19842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~25% average discount drives an $18K loss, the steepest of any sub-category in the entire dataset.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73152" cy="105156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8437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Bookcases and Supplies are also net-negative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3191256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carry above-average discount rates and post losses, alongside Tables, three loss-makers hiding inside a profitable overall business.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831336"/>
            <a:ext cx="73152" cy="105156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813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40507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Discounting, not demand, drives the losses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439826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Copiers, Phones, and Chairs stay highly profitable at discounts under 20%, proving the issue is pricing strategy, not weak product demand.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038344"/>
            <a:ext cx="73152" cy="105156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200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is regionally concentrated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560527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($108K) and East ($92K) together generate nearly 80% of total profit, while Central and South lag well behind.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Week 4 Capstone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23F30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09928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544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discounts on Tables, Bookcases, and Supplies to recover an estimated $20K+ in lost margin without reducing sales volume.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23F30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916936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76148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why Central and South underperform West and East, pricing, product mix, or regional demand may differ.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3133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23F30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4123944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968496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marketing and inventory investment toward Copiers, Phones, and Chairs, the strongest profit drivers at the lowest discount levels.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03834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23F30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330952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175504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maximum discount threshold of 15% for loss-prone sub-categories, and monitor margin monthly against this limit.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Week 4 Capstone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5F7F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270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 scaling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Profit sit on very different scales; on one shared axis, Profit flattened near zero. Solved by moving Profit to a secondary axis.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679192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5F7F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889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sorting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13639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month-year field initially sorted alphabetically, distorting the trend line into a false downward slope. Fixed by sorting on a numeric Year-Month helper column.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941064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5F7F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507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chart overcrowding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4398264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17 sub-categories plotted at once buried the real insight. Filtered to the 6 sub-categories that actually prove the discounting story: 3 losers, 3 winners.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5202936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5F7F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31266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 edge cases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5660136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pills needed distinct rules for the earliest year in the dataset, where no prior-year comparison exists, handled with an ISBLANK check to show N/A instead of a false 0%.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|  Week 4 Capstone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23F3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reframes a standard retail dataset around profit rather than revenue. It shows that a profitable business can still bleed margin through a small number of over-discounted sub-categories, and that fixing pricing discipline on just three product lines could recover meaningful profit without touching sales volume.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Power BI, using the Sample Superstore dataset.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869680" y="17373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123F30"/>
          </a:solidFill>
          <a:ln/>
        </p:spPr>
      </p:sp>
      <p:sp>
        <p:nvSpPr>
          <p:cNvPr id="7" name="Text 5"/>
          <p:cNvSpPr/>
          <p:nvPr/>
        </p:nvSpPr>
        <p:spPr>
          <a:xfrm>
            <a:off x="9006840" y="1965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$286K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006840" y="2606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across 2014-2017, 12.5% margin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006840" y="3657600"/>
            <a:ext cx="2377440" cy="0"/>
          </a:xfrm>
          <a:prstGeom prst="line">
            <a:avLst/>
          </a:prstGeom>
          <a:noFill/>
          <a:ln w="12700">
            <a:solidFill>
              <a:srgbClr val="2E4B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06840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00684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driven by Tables' 25% avg. discount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Timothy Kehinde  |  Data Analyst Intern, AnalystLab Africa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2026-08-02T23:24:50Z</dcterms:created>
  <dcterms:modified xsi:type="dcterms:W3CDTF">2026-08-02T23:24:50Z</dcterms:modified>
</cp:coreProperties>
</file>